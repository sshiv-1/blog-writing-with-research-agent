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7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2011680"/>
            <a:ext cx="944849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DeepAgents in 2026: Architecture, New Features, and Production Best Practices</a:t>
            </a:r>
          </a:p>
          <a:p>
            <a:pPr algn="ctr">
              <a:spcBef>
                <a:spcPts val="1400"/>
              </a:spcBef>
              <a:defRPr sz="2200">
                <a:solidFill>
                  <a:srgbClr val="DCEEEE"/>
                </a:solidFill>
              </a:defRPr>
            </a:pPr>
            <a:r>
              <a:t>From concepts to production-grade deployment</a:t>
            </a:r>
          </a:p>
          <a:p>
            <a:pPr algn="ctr">
              <a:spcBef>
                <a:spcPts val="2400"/>
              </a:spcBef>
              <a:defRPr sz="1400">
                <a:solidFill>
                  <a:srgbClr val="FFFFFF"/>
                </a:solidFill>
              </a:defRPr>
            </a:pPr>
            <a:r>
              <a:t>SAGE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7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9144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Agenda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27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SAGE   |   DeepAgents 2026   |   2 / 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18872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272A40"/>
                </a:solidFill>
              </a:defRPr>
            </a:pPr>
            <a:r>
              <a:t>•  What DeepAgents are and why they matter</a:t>
            </a:r>
          </a:p>
          <a:p>
            <a:pPr>
              <a:spcAft>
                <a:spcPts val="1400"/>
              </a:spcAft>
              <a:defRPr sz="1800">
                <a:solidFill>
                  <a:srgbClr val="272A40"/>
                </a:solidFill>
              </a:defRPr>
            </a:pPr>
            <a:r>
              <a:t>•  v0.6 open-weight model support and performance gains</a:t>
            </a:r>
          </a:p>
          <a:p>
            <a:pPr>
              <a:spcAft>
                <a:spcPts val="1400"/>
              </a:spcAft>
              <a:defRPr sz="1800">
                <a:solidFill>
                  <a:srgbClr val="272A40"/>
                </a:solidFill>
              </a:defRPr>
            </a:pPr>
            <a:r>
              <a:t>•  Minimal working example with a weather tool</a:t>
            </a:r>
          </a:p>
          <a:p>
            <a:pPr>
              <a:spcAft>
                <a:spcPts val="1400"/>
              </a:spcAft>
              <a:defRPr sz="1800">
                <a:solidFill>
                  <a:srgbClr val="272A40"/>
                </a:solidFill>
              </a:defRPr>
            </a:pPr>
            <a:r>
              <a:t>•  Edge cases, failure handling, and scaling</a:t>
            </a:r>
          </a:p>
          <a:p>
            <a:pPr>
              <a:spcAft>
                <a:spcPts val="1400"/>
              </a:spcAft>
              <a:defRPr sz="1800">
                <a:solidFill>
                  <a:srgbClr val="272A40"/>
                </a:solidFill>
              </a:defRPr>
            </a:pPr>
            <a:r>
              <a:t>•  Production checklist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7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9144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DeepAgents vs. Traditional Approaches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27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SAGE   |   DeepAgents 2026   |   3 / 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1371600"/>
            <a:ext cx="5029200" cy="3840480"/>
          </a:xfrm>
          <a:prstGeom prst="roundRect">
            <a:avLst/>
          </a:prstGeom>
          <a:solidFill>
            <a:srgbClr val="F2F2F2"/>
          </a:solidFill>
          <a:ln w="12700">
            <a:solidFill>
              <a:srgbClr val="272A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000"/>
              </a:spcAft>
              <a:defRPr sz="1700" b="1">
                <a:solidFill>
                  <a:srgbClr val="272A40"/>
                </a:solidFill>
              </a:defRPr>
            </a:pPr>
            <a:r>
              <a:t>Prompt-chaining</a:t>
            </a:r>
          </a:p>
          <a:p>
            <a:pPr>
              <a:defRPr sz="1400">
                <a:solidFill>
                  <a:srgbClr val="272A40"/>
                </a:solidFill>
              </a:defRPr>
            </a:pPr>
            <a:r>
              <a:t>Linear static prompts; manual retries; single tool per step.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371600"/>
            <a:ext cx="5029200" cy="3840480"/>
          </a:xfrm>
          <a:prstGeom prst="roundRect">
            <a:avLst/>
          </a:prstGeom>
          <a:solidFill>
            <a:srgbClr val="F2F2F2"/>
          </a:solidFill>
          <a:ln w="12700">
            <a:solidFill>
              <a:srgbClr val="272A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000"/>
              </a:spcAft>
              <a:defRPr sz="1700" b="1">
                <a:solidFill>
                  <a:srgbClr val="272A40"/>
                </a:solidFill>
              </a:defRPr>
            </a:pPr>
            <a:r>
              <a:t>DeepAgents</a:t>
            </a:r>
          </a:p>
          <a:p>
            <a:pPr>
              <a:defRPr sz="1400">
                <a:solidFill>
                  <a:srgbClr val="272A40"/>
                </a:solidFill>
              </a:defRPr>
            </a:pPr>
            <a:r>
              <a:t>Dynamic loop planning; built-in self-correction; multiple heterogeneous tools.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7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9144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v0.6 Performance Benchmarks (GPU-A100)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27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SAGE   |   DeepAgents 2026   |   4 / 8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914400" y="1371600"/>
          <a:ext cx="10362895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54298"/>
                <a:gridCol w="3454298"/>
                <a:gridCol w="3454299"/>
              </a:tblGrid>
              <a:tr h="68580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Metric</a:t>
                      </a:r>
                    </a:p>
                  </a:txBody>
                  <a:tcPr>
                    <a:solidFill>
                      <a:srgbClr val="272A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v0.5</a:t>
                      </a:r>
                    </a:p>
                  </a:txBody>
                  <a:tcPr>
                    <a:solidFill>
                      <a:srgbClr val="272A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v0.6</a:t>
                      </a:r>
                    </a:p>
                  </a:txBody>
                  <a:tcPr>
                    <a:solidFill>
                      <a:srgbClr val="272A40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72A40"/>
                          </a:solidFill>
                        </a:defRPr>
                      </a:pPr>
                      <a:r>
                        <a:t>Plan generation speed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72A40"/>
                          </a:solidFill>
                        </a:defRPr>
                      </a:pPr>
                      <a:r>
                        <a:t>1×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72A40"/>
                          </a:solidFill>
                        </a:defRPr>
                      </a:pPr>
                      <a:r>
                        <a:t>2× faster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72A40"/>
                          </a:solidFill>
                        </a:defRPr>
                      </a:pPr>
                      <a:r>
                        <a:t>Latency per step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72A40"/>
                          </a:solidFill>
                        </a:defRPr>
                      </a:pPr>
                      <a:r>
                        <a:t>100 ms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72A40"/>
                          </a:solidFill>
                        </a:defRPr>
                      </a:pPr>
                      <a:r>
                        <a:t>70 ms (30% lower)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72A40"/>
                          </a:solidFill>
                        </a:defRPr>
                      </a:pPr>
                      <a:r>
                        <a:t>Throughput with rate-limiting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72A40"/>
                          </a:solidFill>
                        </a:defRPr>
                      </a:pPr>
                      <a:r>
                        <a:t>120 req/s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72A40"/>
                          </a:solidFill>
                        </a:defRPr>
                      </a:pPr>
                      <a:r>
                        <a:t>180 req/s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7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9144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MWE: Weather Forecast Agent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27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SAGE   |   DeepAgents 2026   |   5 / 8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0" y="1371600"/>
            <a:ext cx="9448495" cy="2926080"/>
          </a:xfrm>
          <a:prstGeom prst="rect">
            <a:avLst/>
          </a:prstGeom>
          <a:solidFill>
            <a:srgbClr val="F2F2F2"/>
          </a:solidFill>
          <a:ln w="12700">
            <a:solidFill>
              <a:srgbClr val="272A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>
                <a:solidFill>
                  <a:srgbClr val="272A40"/>
                </a:solidFill>
                <a:latin typeface="Consolas"/>
              </a:defRPr>
            </a:pPr>
            <a:r>
              <a:t>from deepagents import AgentOrchestrator, model_registry, ToolAdapter</a:t>
            </a:r>
            <a:br/>
            <a:r>
              <a:t>from deepagents.telemetry import TelemetryLogger</a:t>
            </a:r>
            <a:br/>
            <a:r>
              <a:t>import os, requests</a:t>
            </a:r>
            <a:br/>
            <a:br/>
            <a:r>
              <a:t>model = model_registry.get("llama3-8b-instruct")</a:t>
            </a:r>
            <a:br/>
            <a:br/>
            <a:r>
              <a:t>class WeatherTool(ToolAdapter):</a:t>
            </a:r>
            <a:br/>
            <a:r>
              <a:t>    def __init__(self, api_key):</a:t>
            </a:r>
            <a:br/>
            <a:r>
              <a:t>        self.api_key = api_key</a:t>
            </a:r>
            <a:br/>
            <a:r>
              <a:t>        self.base_url = "https://api.openweathermap.org/data/2.5/forecast"</a:t>
            </a:r>
            <a:br/>
            <a:r>
              <a:t>    def run(self, params):</a:t>
            </a:r>
            <a:br/>
            <a:r>
              <a:t>        resp = requests.get(self.base_url, params={"q": params["city"], "appid": self.api_key})</a:t>
            </a:r>
            <a:br/>
            <a:r>
              <a:t>        data = resp.json()</a:t>
            </a:r>
            <a:br/>
            <a:r>
              <a:t>        return f"Temp {data['list'][0]['main']['temp']}K"</a:t>
            </a:r>
            <a:br/>
            <a:br/>
            <a:r>
              <a:t>orchestrator = AgentOrchestrator(model=model)</a:t>
            </a:r>
            <a:br/>
            <a:r>
              <a:t>orchestrator.register_tool("weather", WeatherTool(os.getenv("OPENWEATHER_API_KEY")))</a:t>
            </a:r>
            <a:br/>
            <a:r>
              <a:t>telemetry = TelemetryLogger()</a:t>
            </a:r>
            <a:br/>
            <a:r>
              <a:t>orchestrator.attach_logger(telemetry)</a:t>
            </a:r>
            <a:br/>
            <a:br/>
            <a:r>
              <a:t>response = orchestrator.run("What's the forecast for Berlin tomorrow?")</a:t>
            </a:r>
            <a:br/>
            <a:r>
              <a:t>print("Agent answer:", response)</a:t>
            </a:r>
            <a:br/>
            <a:r>
              <a:t>print("Total latency:", telemetry.total_latency)</a:t>
            </a:r>
            <a:b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7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9144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Latency Reduction with Telemetry &amp; Batching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27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SAGE   |   DeepAgents 2026   |   6 / 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43891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27AE60"/>
                </a:solidFill>
              </a:defRPr>
            </a:pPr>
            <a:r>
              <a:t>1.7x</a:t>
            </a:r>
          </a:p>
          <a:p>
            <a:pPr algn="ctr">
              <a:spcBef>
                <a:spcPts val="1000"/>
              </a:spcBef>
              <a:defRPr sz="1800" b="1">
                <a:solidFill>
                  <a:srgbClr val="272A40"/>
                </a:solidFill>
              </a:defRPr>
            </a:pPr>
            <a:r>
              <a:t>faster per-step latency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0" y="1554480"/>
            <a:ext cx="5486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272A40"/>
                </a:solidFill>
              </a:defRPr>
            </a:pPr>
            <a:r>
              <a:t>•  Telemetry isolates model inference vs. tool I/O.</a:t>
            </a:r>
          </a:p>
          <a:p>
            <a:pPr>
              <a:spcAft>
                <a:spcPts val="1200"/>
              </a:spcAft>
              <a:defRPr sz="1600">
                <a:solidFill>
                  <a:srgbClr val="272A40"/>
                </a:solidFill>
              </a:defRPr>
            </a:pPr>
            <a:r>
              <a:t>•  Batch identical sub-tasks to amortize GPU cost.</a:t>
            </a:r>
          </a:p>
          <a:p>
            <a:pPr>
              <a:spcAft>
                <a:spcPts val="1200"/>
              </a:spcAft>
              <a:defRPr sz="1600">
                <a:solidFill>
                  <a:srgbClr val="272A40"/>
                </a:solidFill>
              </a:defRPr>
            </a:pPr>
            <a:r>
              <a:t>•  Rate-limiting prevents external throttling.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7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9144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Production-Ready DeepAgents Checklist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27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SAGE   |   DeepAgents 2026   |   7 / 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18872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272A40"/>
                </a:solidFill>
              </a:defRPr>
            </a:pPr>
            <a:r>
              <a:t>•  Pin exact model version and verify license.</a:t>
            </a:r>
          </a:p>
          <a:p>
            <a:pPr>
              <a:spcAft>
                <a:spcPts val="1400"/>
              </a:spcAft>
              <a:defRPr sz="1800">
                <a:solidFill>
                  <a:srgbClr val="272A40"/>
                </a:solidFill>
              </a:defRPr>
            </a:pPr>
            <a:r>
              <a:t>•  Enable telemetry, structured logging, and alerts.</a:t>
            </a:r>
          </a:p>
          <a:p>
            <a:pPr>
              <a:spcAft>
                <a:spcPts val="1400"/>
              </a:spcAft>
              <a:defRPr sz="1800">
                <a:solidFill>
                  <a:srgbClr val="272A40"/>
                </a:solidFill>
              </a:defRPr>
            </a:pPr>
            <a:r>
              <a:t>•  Mock external tools in integration tests.</a:t>
            </a:r>
          </a:p>
          <a:p>
            <a:pPr>
              <a:spcAft>
                <a:spcPts val="1400"/>
              </a:spcAft>
              <a:defRPr sz="1800">
                <a:solidFill>
                  <a:srgbClr val="272A40"/>
                </a:solidFill>
              </a:defRPr>
            </a:pPr>
            <a:r>
              <a:t>•  Set max planning depth and monitor plan_cycle metric.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5303520"/>
            <a:ext cx="10362895" cy="594360"/>
          </a:xfrm>
          <a:prstGeom prst="roundRect">
            <a:avLst/>
          </a:prstGeom>
          <a:solidFill>
            <a:srgbClr val="F2F2F2"/>
          </a:solidFill>
          <a:ln w="12700">
            <a:solidFill>
              <a:srgbClr val="272A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272A40"/>
                </a:solidFill>
              </a:defRPr>
            </a:pPr>
            <a:r>
              <a:t>Key Insight:  These safeguards turn experimental agents into reliable services.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7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9144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Takeaways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27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SAGE   |   DeepAgents 2026   |   8 / 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1371600"/>
            <a:ext cx="5029200" cy="1097280"/>
          </a:xfrm>
          <a:prstGeom prst="roundRect">
            <a:avLst/>
          </a:prstGeom>
          <a:solidFill>
            <a:srgbClr val="F2F2F2"/>
          </a:solidFill>
          <a:ln w="10160">
            <a:solidFill>
              <a:srgbClr val="272A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272A40"/>
                </a:solidFill>
              </a:defRPr>
            </a:pPr>
            <a:r>
              <a:t>Architecture</a:t>
            </a:r>
          </a:p>
          <a:p>
            <a:pPr>
              <a:defRPr sz="1100">
                <a:solidFill>
                  <a:srgbClr val="272A40"/>
                </a:solidFill>
              </a:defRPr>
            </a:pPr>
            <a:r>
              <a:t>Three layers give dynamic planning, tool diversity, and state persistence.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371600"/>
            <a:ext cx="5029200" cy="1097280"/>
          </a:xfrm>
          <a:prstGeom prst="roundRect">
            <a:avLst/>
          </a:prstGeom>
          <a:solidFill>
            <a:srgbClr val="F2F2F2"/>
          </a:solidFill>
          <a:ln w="10160">
            <a:solidFill>
              <a:srgbClr val="272A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272A40"/>
                </a:solidFill>
              </a:defRPr>
            </a:pPr>
            <a:r>
              <a:t>v0.6 Benefits</a:t>
            </a:r>
          </a:p>
          <a:p>
            <a:pPr>
              <a:defRPr sz="1100">
                <a:solidFill>
                  <a:srgbClr val="272A40"/>
                </a:solidFill>
              </a:defRPr>
            </a:pPr>
            <a:r>
              <a:t>Open-weight model swap, 2× faster planning, 30% lower latency.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2651760"/>
            <a:ext cx="5029200" cy="1097280"/>
          </a:xfrm>
          <a:prstGeom prst="roundRect">
            <a:avLst/>
          </a:prstGeom>
          <a:solidFill>
            <a:srgbClr val="F2F2F2"/>
          </a:solidFill>
          <a:ln w="10160">
            <a:solidFill>
              <a:srgbClr val="272A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272A40"/>
                </a:solidFill>
              </a:defRPr>
            </a:pPr>
            <a:r>
              <a:t>Scaling Tools</a:t>
            </a:r>
          </a:p>
          <a:p>
            <a:pPr>
              <a:defRPr sz="1100">
                <a:solidFill>
                  <a:srgbClr val="272A40"/>
                </a:solidFill>
              </a:defRPr>
            </a:pPr>
            <a:r>
              <a:t>Telemetry, batch inference, and rate-limiting control cost and throughput.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2651760"/>
            <a:ext cx="5029200" cy="1097280"/>
          </a:xfrm>
          <a:prstGeom prst="roundRect">
            <a:avLst/>
          </a:prstGeom>
          <a:solidFill>
            <a:srgbClr val="F2F2F2"/>
          </a:solidFill>
          <a:ln w="10160">
            <a:solidFill>
              <a:srgbClr val="272A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272A40"/>
                </a:solidFill>
              </a:defRPr>
            </a:pPr>
            <a:r>
              <a:t>Reliability</a:t>
            </a:r>
          </a:p>
          <a:p>
            <a:pPr>
              <a:defRPr sz="1100">
                <a:solidFill>
                  <a:srgbClr val="272A40"/>
                </a:solidFill>
              </a:defRPr>
            </a:pPr>
            <a:r>
              <a:t>Retry policies, depth limits, and schema validation prevent loops and hallucinations.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